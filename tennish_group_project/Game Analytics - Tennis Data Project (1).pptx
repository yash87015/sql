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Inter" panose="020B0604020202020204" charset="0"/>
      <p:regular r:id="rId15"/>
      <p:bold r:id="rId16"/>
      <p:italic r:id="rId17"/>
      <p:boldItalic r:id="rId18"/>
    </p:embeddedFont>
    <p:embeddedFont>
      <p:font typeface="Oswald" panose="00000500000000000000" pitchFamily="2" charset="0"/>
      <p:regular r:id="rId19"/>
      <p:bold r:id="rId20"/>
    </p:embeddedFont>
    <p:embeddedFont>
      <p:font typeface="Oswald Medium" panose="00000600000000000000" pitchFamily="2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48675" y="655850"/>
            <a:ext cx="7589776" cy="48985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386137" y="1619250"/>
            <a:ext cx="5790723" cy="112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2DD4BF"/>
                </a:solidFill>
                <a:latin typeface="Oswald"/>
                <a:ea typeface="Oswald"/>
                <a:cs typeface="Oswald"/>
                <a:sym typeface="Oswald"/>
              </a:rPr>
              <a:t>GAME ANALYTICS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386137" y="2933700"/>
            <a:ext cx="579072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D4BF"/>
                </a:solidFill>
                <a:latin typeface="Oswald"/>
                <a:ea typeface="Oswald"/>
                <a:cs typeface="Oswald"/>
                <a:sym typeface="Oswald"/>
              </a:rPr>
              <a:t>UNLOCKING TENNIS DATA WITH SPORTRADAR API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386125" y="3246175"/>
            <a:ext cx="6160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An End-to-End Data Engineering &amp; Analysis Project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386125" y="3799375"/>
            <a:ext cx="6086400" cy="9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Team Analytics:</a:t>
            </a:r>
            <a:r>
              <a:rPr lang="en-US" sz="8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Bhumika Chouhan, Yash solanki</a:t>
            </a:r>
            <a:endParaRPr sz="13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Kritika Kature, Parv Goyal</a:t>
            </a: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3338562" y="4654160"/>
            <a:ext cx="55149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January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43187"/>
            <a:ext cx="5286375" cy="2847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643187"/>
            <a:ext cx="5286375" cy="284782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52500" y="3062287"/>
            <a:ext cx="4750593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DD4BF"/>
                </a:solidFill>
                <a:latin typeface="Oswald Medium"/>
                <a:ea typeface="Oswald Medium"/>
                <a:cs typeface="Oswald Medium"/>
                <a:sym typeface="Oswald Medium"/>
              </a:rPr>
              <a:t>THE PROBLEM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3595687"/>
            <a:ext cx="4524375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Tennis data is historically fragmented, expensive, and difficult to access in a structured format. Analysts often struggle with nested JSON feeds and lack a centralized "Source of Truth" for global tournaments, especially below the ATP/WTA tier.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15125" y="3062287"/>
            <a:ext cx="4750593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DD4BF"/>
                </a:solidFill>
                <a:latin typeface="Oswald Medium"/>
                <a:ea typeface="Oswald Medium"/>
                <a:cs typeface="Oswald Medium"/>
                <a:sym typeface="Oswald Medium"/>
              </a:rPr>
              <a:t>OUR SOLUTION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715125" y="3595687"/>
            <a:ext cx="4524375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engineered an end-to-end automated data pipeline. By ingesting raw API data, normalizing it into a relational SQL database, and visualizing it via Streamlit, we created a robust system for strategic analysis of the global tennis ecosystem.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571500"/>
            <a:ext cx="11601450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Oswald"/>
                <a:ea typeface="Oswald"/>
                <a:cs typeface="Oswald"/>
                <a:sym typeface="Oswald"/>
              </a:rPr>
              <a:t>PROJECT OBJECTIVE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1447800"/>
            <a:ext cx="11049000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87016"/>
            <a:ext cx="2476500" cy="3960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29000" y="2087016"/>
            <a:ext cx="2476500" cy="3960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87016"/>
            <a:ext cx="2476500" cy="3960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4000" y="2087016"/>
            <a:ext cx="2476500" cy="396031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57250" y="3049041"/>
            <a:ext cx="1690211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DD4BF"/>
                </a:solidFill>
                <a:latin typeface="Oswald Medium"/>
                <a:ea typeface="Oswald Medium"/>
                <a:cs typeface="Oswald Medium"/>
                <a:sym typeface="Oswald Medium"/>
              </a:rPr>
              <a:t>DATA ENGINEER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57250" y="3582441"/>
            <a:ext cx="1905000" cy="164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API Integration Specialist. Handled authentication, raw JSON extraction, data flattening, and rate-limiting scripts.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3714750" y="3049041"/>
            <a:ext cx="2000250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DD4BF"/>
                </a:solidFill>
                <a:latin typeface="Oswald Medium"/>
                <a:ea typeface="Oswald Medium"/>
                <a:cs typeface="Oswald Medium"/>
                <a:sym typeface="Oswald Medium"/>
              </a:rPr>
              <a:t>DATABASE ARCHITECT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3714750" y="3972966"/>
            <a:ext cx="1905000" cy="164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Designed the normalized SQL structure (3NF), enforced referential integrity, and managed data loading.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572250" y="3049041"/>
            <a:ext cx="158019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DD4BF"/>
                </a:solidFill>
                <a:latin typeface="Oswald Medium"/>
                <a:ea typeface="Oswald Medium"/>
                <a:cs typeface="Oswald Medium"/>
                <a:sym typeface="Oswald Medium"/>
              </a:rPr>
              <a:t>DATA ANALYST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572250" y="3582441"/>
            <a:ext cx="1905000" cy="164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Developed complex SQL queries to uncover trends in player efficiency, venue distribution, and tour structure.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429750" y="3049041"/>
            <a:ext cx="1630203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DD4BF"/>
                </a:solidFill>
                <a:latin typeface="Oswald Medium"/>
                <a:ea typeface="Oswald Medium"/>
                <a:cs typeface="Oswald Medium"/>
                <a:sym typeface="Oswald Medium"/>
              </a:rPr>
              <a:t>FRONTEND DEV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429750" y="3582441"/>
            <a:ext cx="190500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Built the Streamlit dashboard to visualize key metrics and provide an interactive user interface.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242991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14750" y="2429916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72250" y="2429916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29750" y="2429916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571500" y="571500"/>
            <a:ext cx="11601450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Oswald"/>
                <a:ea typeface="Oswald"/>
                <a:cs typeface="Oswald"/>
                <a:sym typeface="Oswald"/>
              </a:rPr>
              <a:t>TEAM COMPOSITION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71500" y="1447800"/>
            <a:ext cx="11049000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94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71500" y="3126283"/>
            <a:ext cx="52863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Python (Pandas/Requests)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Used for ETL: Extraction, Transformation, and Loading.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23700" y="4676775"/>
            <a:ext cx="5286300" cy="11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SQL (Relational DB)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Structured storage with enforced </a:t>
            </a:r>
            <a: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primary/foreign</a:t>
            </a: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keys.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334125" y="3126283"/>
            <a:ext cx="52863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SportRadar API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primary source for real-time and historical tennis data.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334163" y="4670750"/>
            <a:ext cx="5286300" cy="11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7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Streamlit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Rapid application development for data visualization.</a:t>
            </a:r>
            <a:endParaRPr/>
          </a:p>
        </p:txBody>
      </p:sp>
      <p:pic>
        <p:nvPicPr>
          <p:cNvPr id="136" name="Google Shape;13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5125" y="521777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8067" y="3653174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8617" y="3127647"/>
            <a:ext cx="285750" cy="340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700" y="47788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3244303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91237" y="47857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571500" y="571500"/>
            <a:ext cx="11601450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Oswald"/>
                <a:ea typeface="Oswald"/>
                <a:cs typeface="Oswald"/>
                <a:sym typeface="Oswald"/>
              </a:rPr>
              <a:t>TECHNOLOGY STACK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71500" y="1447800"/>
            <a:ext cx="11049000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5916" y="37008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73780" y="525245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76612"/>
            <a:ext cx="2430660" cy="2428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4175" y="3376598"/>
            <a:ext cx="2430675" cy="248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16860" y="3376612"/>
            <a:ext cx="2430660" cy="2154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89541" y="3376612"/>
            <a:ext cx="2430660" cy="188014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/>
          <p:nvPr/>
        </p:nvSpPr>
        <p:spPr>
          <a:xfrm>
            <a:off x="571500" y="3090862"/>
            <a:ext cx="11049000" cy="381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710758" y="3567112"/>
            <a:ext cx="2152143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DD4BF"/>
                </a:solidFill>
                <a:latin typeface="Oswald Medium"/>
                <a:ea typeface="Oswald Medium"/>
                <a:cs typeface="Oswald Medium"/>
                <a:sym typeface="Oswald Medium"/>
              </a:rPr>
              <a:t>1. INGESTION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762000" y="4100512"/>
            <a:ext cx="204966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Python scripts fetch JSON from Competitions, Complexes, and Rankings endpoints.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3583438" y="3567112"/>
            <a:ext cx="2152143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DD4BF"/>
                </a:solidFill>
                <a:latin typeface="Oswald Medium"/>
                <a:ea typeface="Oswald Medium"/>
                <a:cs typeface="Oswald Medium"/>
                <a:sym typeface="Oswald Medium"/>
              </a:rPr>
              <a:t>2. PROCESSING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3634680" y="4100512"/>
            <a:ext cx="2049600" cy="15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Pandas `explode()`</a:t>
            </a: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functions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flatten nested lists (e.g., </a:t>
            </a: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venues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inside </a:t>
            </a: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complexes).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6456119" y="3567112"/>
            <a:ext cx="2152143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DD4BF"/>
                </a:solidFill>
                <a:latin typeface="Oswald Medium"/>
                <a:ea typeface="Oswald Medium"/>
                <a:cs typeface="Oswald Medium"/>
                <a:sym typeface="Oswald Medium"/>
              </a:rPr>
              <a:t>3. STORAGE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6507360" y="4100512"/>
            <a:ext cx="204966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Cleaned CSVs are loaded into SQL tables: Competitions, Venues, Players.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9328799" y="3567112"/>
            <a:ext cx="2152143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DD4BF"/>
                </a:solidFill>
                <a:latin typeface="Oswald Medium"/>
                <a:ea typeface="Oswald Medium"/>
                <a:cs typeface="Oswald Medium"/>
                <a:sym typeface="Oswald Medium"/>
              </a:rPr>
              <a:t>4. ANALYTICS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9380041" y="4100512"/>
            <a:ext cx="204966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SQL queries drive the Streamlit dashboard for real-time insights.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571500" y="571500"/>
            <a:ext cx="11601450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Oswald"/>
                <a:ea typeface="Oswald"/>
                <a:cs typeface="Oswald"/>
                <a:sym typeface="Oswald"/>
              </a:rPr>
              <a:t>DATA PIPELINE ARCHITECTURE</a:t>
            </a:r>
            <a:endParaRPr/>
          </a:p>
        </p:txBody>
      </p:sp>
      <p:sp>
        <p:nvSpPr>
          <p:cNvPr id="208" name="Google Shape;208;p19"/>
          <p:cNvSpPr/>
          <p:nvPr/>
        </p:nvSpPr>
        <p:spPr>
          <a:xfrm>
            <a:off x="571500" y="1447800"/>
            <a:ext cx="11049000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1536329" y="2990788"/>
            <a:ext cx="238200" cy="2382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2DD4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4492661" y="2990788"/>
            <a:ext cx="238200" cy="2382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2DD4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7317553" y="2990826"/>
            <a:ext cx="238200" cy="2382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2DD4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10226059" y="2990826"/>
            <a:ext cx="238200" cy="2382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2DD4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01329"/>
            <a:ext cx="2476500" cy="3531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29000" y="2301329"/>
            <a:ext cx="2476500" cy="3531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301329"/>
            <a:ext cx="2476500" cy="3531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4000" y="2301329"/>
            <a:ext cx="2476500" cy="353169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895350" y="3225254"/>
            <a:ext cx="188023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DD4BF"/>
                </a:solidFill>
                <a:latin typeface="Oswald Medium"/>
                <a:ea typeface="Oswald Medium"/>
                <a:cs typeface="Oswald Medium"/>
                <a:sym typeface="Oswald Medium"/>
              </a:rPr>
              <a:t>100% INTEGRITY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95350" y="3758654"/>
            <a:ext cx="1866900" cy="164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Passed. No "Orphan" records found. Every venue links to a complex; every ranking links to a player.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3752850" y="3225254"/>
            <a:ext cx="1960245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DD4BF"/>
                </a:solidFill>
                <a:latin typeface="Oswald Medium"/>
                <a:ea typeface="Oswald Medium"/>
                <a:cs typeface="Oswald Medium"/>
                <a:sym typeface="Oswald Medium"/>
              </a:rPr>
              <a:t>ZERO DUPLICATES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3752850" y="4149179"/>
            <a:ext cx="18669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Passed. 0 Duplicates found in Primary Keys across all tables after ingestion.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610350" y="3225254"/>
            <a:ext cx="1960245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DD4BF"/>
                </a:solidFill>
                <a:latin typeface="Oswald Medium"/>
                <a:ea typeface="Oswald Medium"/>
                <a:cs typeface="Oswald Medium"/>
                <a:sym typeface="Oswald Medium"/>
              </a:rPr>
              <a:t>EXTENSIVE COVERAGE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610350" y="4149179"/>
            <a:ext cx="18669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6,428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Competitions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3,803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Venues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1,000+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Ranked Players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9467850" y="3225254"/>
            <a:ext cx="1680210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DD4BF"/>
                </a:solidFill>
                <a:latin typeface="Oswald Medium"/>
                <a:ea typeface="Oswald Medium"/>
                <a:cs typeface="Oswald Medium"/>
                <a:sym typeface="Oswald Medium"/>
              </a:rPr>
              <a:t>COMPLETENESS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9467850" y="3758654"/>
            <a:ext cx="186690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Passed. All critical fields (Names, IDs, Points, Country Codes) are present and valid.</a:t>
            </a:r>
            <a:endParaRPr/>
          </a:p>
        </p:txBody>
      </p:sp>
      <p:pic>
        <p:nvPicPr>
          <p:cNvPr id="163" name="Google Shape;16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5350" y="260612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52850" y="260612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10350" y="2606129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67850" y="260612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571500" y="571500"/>
            <a:ext cx="11601450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Oswald"/>
                <a:ea typeface="Oswald"/>
                <a:cs typeface="Oswald"/>
                <a:sym typeface="Oswald"/>
              </a:rPr>
              <a:t>DATA QUALITY &amp; VALIDATION AUDIT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571500" y="1447800"/>
            <a:ext cx="11049000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-56025"/>
            <a:ext cx="12192000" cy="704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571500" y="2258950"/>
            <a:ext cx="2929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DD4BF"/>
                </a:solidFill>
                <a:latin typeface="Oswald Medium"/>
                <a:ea typeface="Oswald Medium"/>
                <a:cs typeface="Oswald Medium"/>
                <a:sym typeface="Oswald Medium"/>
              </a:rPr>
              <a:t>DESIGN PHILOSOPHY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571500" y="738633"/>
            <a:ext cx="1390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857250" y="4590157"/>
            <a:ext cx="1104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857250" y="5830192"/>
            <a:ext cx="1104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857250" y="7070228"/>
            <a:ext cx="11049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Table: Rankings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(Linked to Competitors)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571500" y="-1461641"/>
            <a:ext cx="11601450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Oswald"/>
                <a:ea typeface="Oswald"/>
                <a:cs typeface="Oswald"/>
                <a:sym typeface="Oswald"/>
              </a:rPr>
              <a:t>NORMALIZED DATABASE SCHEMA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571500" y="-585341"/>
            <a:ext cx="11049000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7070228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124800" y="238975"/>
            <a:ext cx="120672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>
                <a:solidFill>
                  <a:srgbClr val="F1F5F9"/>
                </a:solidFill>
                <a:latin typeface="Oswald"/>
                <a:ea typeface="Oswald"/>
                <a:cs typeface="Oswald"/>
                <a:sym typeface="Oswald"/>
              </a:rPr>
              <a:t>NORMALIZED DATABASE SCHEMA</a:t>
            </a:r>
            <a:endParaRPr sz="3900" b="1">
              <a:solidFill>
                <a:srgbClr val="F1F5F9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430125" y="2795775"/>
            <a:ext cx="56991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adopted a 3rd Normal Form (3NF) approach to eliminate redundancy. For example, 'Category' information is stored once and referenced by ID in the 'Competitions' table.</a:t>
            </a:r>
            <a:endParaRPr sz="15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571500" y="4229500"/>
            <a:ext cx="4769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Inter"/>
              <a:buChar char="●"/>
            </a:pPr>
            <a:r>
              <a:rPr lang="en-US" sz="1500" b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Table: Competitions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(Linked to Categories)</a:t>
            </a:r>
            <a:endParaRPr sz="15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5" name="Google Shape;18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9050" y="954032"/>
            <a:ext cx="12192001" cy="2018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571500" y="4695475"/>
            <a:ext cx="4446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Inter"/>
              <a:buChar char="●"/>
            </a:pPr>
            <a:r>
              <a:rPr lang="en-US" sz="1500" b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Table: Venues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(Linked to Complexes)</a:t>
            </a:r>
            <a:endParaRPr sz="15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571500" y="5161450"/>
            <a:ext cx="4661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Inter"/>
              <a:buChar char="●"/>
            </a:pPr>
            <a:r>
              <a:rPr lang="en-US" sz="1500" b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Table: Rankings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(Linked to Competitors)</a:t>
            </a:r>
            <a:endParaRPr sz="15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8" name="Google Shape;188;p18"/>
          <p:cNvPicPr preferRelativeResize="0"/>
          <p:nvPr/>
        </p:nvPicPr>
        <p:blipFill>
          <a:blip r:embed="rId6">
            <a:alphaModFix/>
          </a:blip>
          <a:srcRect/>
          <a:stretch/>
        </p:blipFill>
        <p:spPr>
          <a:xfrm>
            <a:off x="6298163" y="1627358"/>
            <a:ext cx="5779887" cy="4202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47850"/>
            <a:ext cx="11049000" cy="443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1743075" y="5763517"/>
            <a:ext cx="87058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Contrary to TV coverage, </a:t>
            </a:r>
            <a:r>
              <a:rPr lang="en-US" sz="1350" b="1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65%</a:t>
            </a:r>
            <a:r>
              <a:rPr lang="en-US" sz="135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of all competitions occur at the ITF level. Predictive models must focus here.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571500" y="571500"/>
            <a:ext cx="11601450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Oswald"/>
                <a:ea typeface="Oswald"/>
                <a:cs typeface="Oswald"/>
                <a:sym typeface="Oswald"/>
              </a:rPr>
              <a:t>INSIGHT 1: THE "ENGINE ROOM" OF TENNIS</a:t>
            </a:r>
            <a:endParaRPr/>
          </a:p>
        </p:txBody>
      </p:sp>
      <p:sp>
        <p:nvSpPr>
          <p:cNvPr id="221" name="Google Shape;221;p20"/>
          <p:cNvSpPr/>
          <p:nvPr/>
        </p:nvSpPr>
        <p:spPr>
          <a:xfrm>
            <a:off x="571500" y="1447800"/>
            <a:ext cx="11049000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47850"/>
            <a:ext cx="11049000" cy="443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2757487" y="5287267"/>
            <a:ext cx="66770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lang="en-US" sz="1350" b="1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USA</a:t>
            </a:r>
            <a:r>
              <a:rPr lang="en-US" sz="135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possesses more than </a:t>
            </a:r>
            <a:r>
              <a:rPr lang="en-US" sz="1350" b="1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2x</a:t>
            </a:r>
            <a:r>
              <a:rPr lang="en-US" sz="135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recorded tennis venues of any other nation.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571500" y="571500"/>
            <a:ext cx="11601450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Oswald"/>
                <a:ea typeface="Oswald"/>
                <a:cs typeface="Oswald"/>
                <a:sym typeface="Oswald"/>
              </a:rPr>
              <a:t>INSIGHT 2: GLOBAL INFRASTRUCTURE HEGEMONY</a:t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571500" y="1447800"/>
            <a:ext cx="11049000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2"/>
          <p:cNvSpPr txBox="1"/>
          <p:nvPr/>
        </p:nvSpPr>
        <p:spPr>
          <a:xfrm>
            <a:off x="571500" y="762000"/>
            <a:ext cx="456057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Oswald"/>
                <a:ea typeface="Oswald"/>
                <a:cs typeface="Oswald"/>
                <a:sym typeface="Oswald"/>
              </a:rPr>
              <a:t>THE GREAT BRITAIN ANOMALY</a:t>
            </a:r>
            <a:endParaRPr/>
          </a:p>
        </p:txBody>
      </p:sp>
      <p:sp>
        <p:nvSpPr>
          <p:cNvPr id="237" name="Google Shape;237;p22"/>
          <p:cNvSpPr/>
          <p:nvPr/>
        </p:nvSpPr>
        <p:spPr>
          <a:xfrm>
            <a:off x="571500" y="2371725"/>
            <a:ext cx="4343400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0" y="0"/>
            <a:ext cx="6705600" cy="8161883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 txBox="1"/>
          <p:nvPr/>
        </p:nvSpPr>
        <p:spPr>
          <a:xfrm>
            <a:off x="462913" y="2640938"/>
            <a:ext cx="456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DD4BF"/>
                </a:solidFill>
                <a:latin typeface="Oswald Medium"/>
                <a:ea typeface="Oswald Medium"/>
                <a:cs typeface="Oswald Medium"/>
                <a:sym typeface="Oswald Medium"/>
              </a:rPr>
              <a:t>DOUBLES DOMINANCE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245750" y="3102675"/>
            <a:ext cx="45606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1432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Inter"/>
              <a:buChar char="●"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Our analysis of the Doubles Rankings revealed a striking trend.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Three of the Top 4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ranked doubles players in our dataset are British.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245750" y="4211750"/>
            <a:ext cx="4560600" cy="15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1432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Inter"/>
              <a:buChar char="●"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statistical anomaly suggests a highly specialized and successful doubles training program within the UK system, differentiating it from the singles-focused strategies of other major federations.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19350"/>
            <a:ext cx="3429000" cy="3295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2419350"/>
            <a:ext cx="3429000" cy="3295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500" y="2419350"/>
            <a:ext cx="3429000" cy="3295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 txBox="1"/>
          <p:nvPr/>
        </p:nvSpPr>
        <p:spPr>
          <a:xfrm>
            <a:off x="857250" y="3381375"/>
            <a:ext cx="2490311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DD4BF"/>
                </a:solidFill>
                <a:latin typeface="Oswald Medium"/>
                <a:ea typeface="Oswald Medium"/>
                <a:cs typeface="Oswald Medium"/>
                <a:sym typeface="Oswald Medium"/>
              </a:rPr>
              <a:t>PREDICTIVE MODELING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857250" y="3914775"/>
            <a:ext cx="285750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Utilize historical ranking data and surface preferences (clay vs. grass) to train Machine Learning models for match outcome prediction.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4667250" y="3381375"/>
            <a:ext cx="2320290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DD4BF"/>
                </a:solidFill>
                <a:latin typeface="Oswald Medium"/>
                <a:ea typeface="Oswald Medium"/>
                <a:cs typeface="Oswald Medium"/>
                <a:sym typeface="Oswald Medium"/>
              </a:rPr>
              <a:t>LIVE DATA INGESTION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4667250" y="3914775"/>
            <a:ext cx="28575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Upgrade the pipeline to handle the "Live Summaries" endpoint, enabling point-by-point analysis and momentum tracking.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8477250" y="3381375"/>
            <a:ext cx="2450306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DD4BF"/>
                </a:solidFill>
                <a:latin typeface="Oswald Medium"/>
                <a:ea typeface="Oswald Medium"/>
                <a:cs typeface="Oswald Medium"/>
                <a:sym typeface="Oswald Medium"/>
              </a:rPr>
              <a:t>MOBILE OPTIMIZATION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8477250" y="3914775"/>
            <a:ext cx="28575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Refactor the Streamlit dashboard into a progressive web app (PWA) for scouts and coaches to use courtside.</a:t>
            </a:r>
            <a:endParaRPr/>
          </a:p>
        </p:txBody>
      </p:sp>
      <p:pic>
        <p:nvPicPr>
          <p:cNvPr id="256" name="Google Shape;25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27622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67250" y="276225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7250" y="2762250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3"/>
          <p:cNvSpPr txBox="1"/>
          <p:nvPr/>
        </p:nvSpPr>
        <p:spPr>
          <a:xfrm>
            <a:off x="571500" y="571500"/>
            <a:ext cx="11601450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Oswald"/>
                <a:ea typeface="Oswald"/>
                <a:cs typeface="Oswald"/>
                <a:sym typeface="Oswald"/>
              </a:rPr>
              <a:t>FUTURE SCOPE &amp; ROADMAP</a:t>
            </a:r>
            <a:endParaRPr/>
          </a:p>
        </p:txBody>
      </p:sp>
      <p:sp>
        <p:nvSpPr>
          <p:cNvPr id="260" name="Google Shape;260;p23"/>
          <p:cNvSpPr/>
          <p:nvPr/>
        </p:nvSpPr>
        <p:spPr>
          <a:xfrm>
            <a:off x="571500" y="1447800"/>
            <a:ext cx="11049000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4"/>
          <p:cNvSpPr txBox="1"/>
          <p:nvPr/>
        </p:nvSpPr>
        <p:spPr>
          <a:xfrm>
            <a:off x="2390775" y="2144017"/>
            <a:ext cx="7780972" cy="112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2DD4BF"/>
                </a:solidFill>
                <a:latin typeface="Oswald"/>
                <a:ea typeface="Oswald"/>
                <a:cs typeface="Oswald"/>
                <a:sym typeface="Oswald"/>
              </a:rPr>
              <a:t>QUESTIONS?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2390775" y="3458467"/>
            <a:ext cx="74104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Thank You for your attention.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2390775" y="4266158"/>
            <a:ext cx="7410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Project Repository: github.com/your-repo | Contact: analytics-team@project.com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690</Words>
  <Application>Microsoft Office PowerPoint</Application>
  <PresentationFormat>Widescreen</PresentationFormat>
  <Paragraphs>69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Oswald Medium</vt:lpstr>
      <vt:lpstr>Oswald</vt:lpstr>
      <vt:lpstr>Inter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yash solanki</dc:creator>
  <cp:lastModifiedBy>dipen solanki</cp:lastModifiedBy>
  <cp:revision>1</cp:revision>
  <dcterms:modified xsi:type="dcterms:W3CDTF">2026-01-19T09:57:04Z</dcterms:modified>
</cp:coreProperties>
</file>